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en Murphy" userId="8848ed26ab0a2902" providerId="LiveId" clId="{D90E3C56-6AC7-41FF-9C28-117B93FC6C42}"/>
    <pc:docChg chg="custSel modSld">
      <pc:chgData name="Lauren Murphy" userId="8848ed26ab0a2902" providerId="LiveId" clId="{D90E3C56-6AC7-41FF-9C28-117B93FC6C42}" dt="2026-07-02T19:16:24.767" v="54" actId="1076"/>
      <pc:docMkLst>
        <pc:docMk/>
      </pc:docMkLst>
      <pc:sldChg chg="modSp mod">
        <pc:chgData name="Lauren Murphy" userId="8848ed26ab0a2902" providerId="LiveId" clId="{D90E3C56-6AC7-41FF-9C28-117B93FC6C42}" dt="2026-07-02T19:07:51.368" v="0" actId="14100"/>
        <pc:sldMkLst>
          <pc:docMk/>
          <pc:sldMk cId="0" sldId="257"/>
        </pc:sldMkLst>
        <pc:spChg chg="mod">
          <ac:chgData name="Lauren Murphy" userId="8848ed26ab0a2902" providerId="LiveId" clId="{D90E3C56-6AC7-41FF-9C28-117B93FC6C42}" dt="2026-07-02T19:07:51.368" v="0" actId="14100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Lauren Murphy" userId="8848ed26ab0a2902" providerId="LiveId" clId="{D90E3C56-6AC7-41FF-9C28-117B93FC6C42}" dt="2026-07-02T19:14:39.294" v="44" actId="20577"/>
        <pc:sldMkLst>
          <pc:docMk/>
          <pc:sldMk cId="0" sldId="258"/>
        </pc:sldMkLst>
        <pc:spChg chg="mod">
          <ac:chgData name="Lauren Murphy" userId="8848ed26ab0a2902" providerId="LiveId" clId="{D90E3C56-6AC7-41FF-9C28-117B93FC6C42}" dt="2026-07-02T19:14:39.294" v="44" actId="20577"/>
          <ac:spMkLst>
            <pc:docMk/>
            <pc:sldMk cId="0" sldId="258"/>
            <ac:spMk id="9" creationId="{00000000-0000-0000-0000-000000000000}"/>
          </ac:spMkLst>
        </pc:spChg>
      </pc:sldChg>
      <pc:sldChg chg="modSp mod">
        <pc:chgData name="Lauren Murphy" userId="8848ed26ab0a2902" providerId="LiveId" clId="{D90E3C56-6AC7-41FF-9C28-117B93FC6C42}" dt="2026-07-02T19:08:23.030" v="5" actId="1076"/>
        <pc:sldMkLst>
          <pc:docMk/>
          <pc:sldMk cId="0" sldId="260"/>
        </pc:sldMkLst>
        <pc:spChg chg="mod">
          <ac:chgData name="Lauren Murphy" userId="8848ed26ab0a2902" providerId="LiveId" clId="{D90E3C56-6AC7-41FF-9C28-117B93FC6C42}" dt="2026-07-02T19:08:23.030" v="5" actId="1076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Lauren Murphy" userId="8848ed26ab0a2902" providerId="LiveId" clId="{D90E3C56-6AC7-41FF-9C28-117B93FC6C42}" dt="2026-07-02T19:08:54.859" v="7" actId="27636"/>
        <pc:sldMkLst>
          <pc:docMk/>
          <pc:sldMk cId="0" sldId="262"/>
        </pc:sldMkLst>
        <pc:spChg chg="mod">
          <ac:chgData name="Lauren Murphy" userId="8848ed26ab0a2902" providerId="LiveId" clId="{D90E3C56-6AC7-41FF-9C28-117B93FC6C42}" dt="2026-07-02T19:08:54.859" v="7" actId="27636"/>
          <ac:spMkLst>
            <pc:docMk/>
            <pc:sldMk cId="0" sldId="262"/>
            <ac:spMk id="25" creationId="{00000000-0000-0000-0000-000000000000}"/>
          </ac:spMkLst>
        </pc:spChg>
      </pc:sldChg>
      <pc:sldChg chg="modSp mod">
        <pc:chgData name="Lauren Murphy" userId="8848ed26ab0a2902" providerId="LiveId" clId="{D90E3C56-6AC7-41FF-9C28-117B93FC6C42}" dt="2026-07-02T19:09:20.900" v="12" actId="20577"/>
        <pc:sldMkLst>
          <pc:docMk/>
          <pc:sldMk cId="0" sldId="264"/>
        </pc:sldMkLst>
        <pc:spChg chg="mod">
          <ac:chgData name="Lauren Murphy" userId="8848ed26ab0a2902" providerId="LiveId" clId="{D90E3C56-6AC7-41FF-9C28-117B93FC6C42}" dt="2026-07-02T19:09:20.900" v="12" actId="20577"/>
          <ac:spMkLst>
            <pc:docMk/>
            <pc:sldMk cId="0" sldId="264"/>
            <ac:spMk id="22" creationId="{00000000-0000-0000-0000-000000000000}"/>
          </ac:spMkLst>
        </pc:spChg>
      </pc:sldChg>
      <pc:sldChg chg="modSp mod">
        <pc:chgData name="Lauren Murphy" userId="8848ed26ab0a2902" providerId="LiveId" clId="{D90E3C56-6AC7-41FF-9C28-117B93FC6C42}" dt="2026-07-02T19:09:32.423" v="14" actId="27636"/>
        <pc:sldMkLst>
          <pc:docMk/>
          <pc:sldMk cId="0" sldId="265"/>
        </pc:sldMkLst>
        <pc:spChg chg="mod">
          <ac:chgData name="Lauren Murphy" userId="8848ed26ab0a2902" providerId="LiveId" clId="{D90E3C56-6AC7-41FF-9C28-117B93FC6C42}" dt="2026-07-02T19:09:32.423" v="14" actId="27636"/>
          <ac:spMkLst>
            <pc:docMk/>
            <pc:sldMk cId="0" sldId="265"/>
            <ac:spMk id="9" creationId="{00000000-0000-0000-0000-000000000000}"/>
          </ac:spMkLst>
        </pc:spChg>
      </pc:sldChg>
      <pc:sldChg chg="modSp mod">
        <pc:chgData name="Lauren Murphy" userId="8848ed26ab0a2902" providerId="LiveId" clId="{D90E3C56-6AC7-41FF-9C28-117B93FC6C42}" dt="2026-07-02T19:11:50.123" v="31" actId="1076"/>
        <pc:sldMkLst>
          <pc:docMk/>
          <pc:sldMk cId="0" sldId="266"/>
        </pc:sldMkLst>
        <pc:spChg chg="mod">
          <ac:chgData name="Lauren Murphy" userId="8848ed26ab0a2902" providerId="LiveId" clId="{D90E3C56-6AC7-41FF-9C28-117B93FC6C42}" dt="2026-07-02T19:10:38.434" v="21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Lauren Murphy" userId="8848ed26ab0a2902" providerId="LiveId" clId="{D90E3C56-6AC7-41FF-9C28-117B93FC6C42}" dt="2026-07-02T19:10:24.605" v="19" actId="1076"/>
          <ac:spMkLst>
            <pc:docMk/>
            <pc:sldMk cId="0" sldId="266"/>
            <ac:spMk id="3" creationId="{00000000-0000-0000-0000-000000000000}"/>
          </ac:spMkLst>
        </pc:spChg>
        <pc:spChg chg="mod">
          <ac:chgData name="Lauren Murphy" userId="8848ed26ab0a2902" providerId="LiveId" clId="{D90E3C56-6AC7-41FF-9C28-117B93FC6C42}" dt="2026-07-02T19:10:48.641" v="22" actId="1076"/>
          <ac:spMkLst>
            <pc:docMk/>
            <pc:sldMk cId="0" sldId="266"/>
            <ac:spMk id="5" creationId="{00000000-0000-0000-0000-000000000000}"/>
          </ac:spMkLst>
        </pc:spChg>
        <pc:spChg chg="mod">
          <ac:chgData name="Lauren Murphy" userId="8848ed26ab0a2902" providerId="LiveId" clId="{D90E3C56-6AC7-41FF-9C28-117B93FC6C42}" dt="2026-07-02T19:10:53.165" v="23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Lauren Murphy" userId="8848ed26ab0a2902" providerId="LiveId" clId="{D90E3C56-6AC7-41FF-9C28-117B93FC6C42}" dt="2026-07-02T19:11:34.197" v="28" actId="255"/>
          <ac:spMkLst>
            <pc:docMk/>
            <pc:sldMk cId="0" sldId="266"/>
            <ac:spMk id="7" creationId="{00000000-0000-0000-0000-000000000000}"/>
          </ac:spMkLst>
        </pc:spChg>
        <pc:spChg chg="mod">
          <ac:chgData name="Lauren Murphy" userId="8848ed26ab0a2902" providerId="LiveId" clId="{D90E3C56-6AC7-41FF-9C28-117B93FC6C42}" dt="2026-07-02T19:11:50.123" v="31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Lauren Murphy" userId="8848ed26ab0a2902" providerId="LiveId" clId="{D90E3C56-6AC7-41FF-9C28-117B93FC6C42}" dt="2026-07-02T19:11:43.341" v="30" actId="27636"/>
          <ac:spMkLst>
            <pc:docMk/>
            <pc:sldMk cId="0" sldId="266"/>
            <ac:spMk id="9" creationId="{00000000-0000-0000-0000-000000000000}"/>
          </ac:spMkLst>
        </pc:spChg>
        <pc:spChg chg="mod">
          <ac:chgData name="Lauren Murphy" userId="8848ed26ab0a2902" providerId="LiveId" clId="{D90E3C56-6AC7-41FF-9C28-117B93FC6C42}" dt="2026-07-02T19:09:51.061" v="15" actId="1076"/>
          <ac:spMkLst>
            <pc:docMk/>
            <pc:sldMk cId="0" sldId="266"/>
            <ac:spMk id="11" creationId="{00000000-0000-0000-0000-000000000000}"/>
          </ac:spMkLst>
        </pc:spChg>
      </pc:sldChg>
      <pc:sldChg chg="modSp mod">
        <pc:chgData name="Lauren Murphy" userId="8848ed26ab0a2902" providerId="LiveId" clId="{D90E3C56-6AC7-41FF-9C28-117B93FC6C42}" dt="2026-07-02T19:15:29.856" v="50" actId="20577"/>
        <pc:sldMkLst>
          <pc:docMk/>
          <pc:sldMk cId="0" sldId="267"/>
        </pc:sldMkLst>
        <pc:spChg chg="mod">
          <ac:chgData name="Lauren Murphy" userId="8848ed26ab0a2902" providerId="LiveId" clId="{D90E3C56-6AC7-41FF-9C28-117B93FC6C42}" dt="2026-07-02T19:15:29.856" v="50" actId="20577"/>
          <ac:spMkLst>
            <pc:docMk/>
            <pc:sldMk cId="0" sldId="267"/>
            <ac:spMk id="11" creationId="{00000000-0000-0000-0000-000000000000}"/>
          </ac:spMkLst>
        </pc:spChg>
      </pc:sldChg>
      <pc:sldChg chg="modSp mod">
        <pc:chgData name="Lauren Murphy" userId="8848ed26ab0a2902" providerId="LiveId" clId="{D90E3C56-6AC7-41FF-9C28-117B93FC6C42}" dt="2026-07-02T19:12:39.980" v="36" actId="27636"/>
        <pc:sldMkLst>
          <pc:docMk/>
          <pc:sldMk cId="0" sldId="268"/>
        </pc:sldMkLst>
        <pc:spChg chg="mod">
          <ac:chgData name="Lauren Murphy" userId="8848ed26ab0a2902" providerId="LiveId" clId="{D90E3C56-6AC7-41FF-9C28-117B93FC6C42}" dt="2026-07-02T19:12:39.980" v="36" actId="27636"/>
          <ac:spMkLst>
            <pc:docMk/>
            <pc:sldMk cId="0" sldId="268"/>
            <ac:spMk id="7" creationId="{00000000-0000-0000-0000-000000000000}"/>
          </ac:spMkLst>
        </pc:spChg>
        <pc:spChg chg="mod">
          <ac:chgData name="Lauren Murphy" userId="8848ed26ab0a2902" providerId="LiveId" clId="{D90E3C56-6AC7-41FF-9C28-117B93FC6C42}" dt="2026-07-02T19:12:11.317" v="32" actId="1076"/>
          <ac:spMkLst>
            <pc:docMk/>
            <pc:sldMk cId="0" sldId="268"/>
            <ac:spMk id="8" creationId="{00000000-0000-0000-0000-000000000000}"/>
          </ac:spMkLst>
        </pc:spChg>
      </pc:sldChg>
      <pc:sldChg chg="modSp mod">
        <pc:chgData name="Lauren Murphy" userId="8848ed26ab0a2902" providerId="LiveId" clId="{D90E3C56-6AC7-41FF-9C28-117B93FC6C42}" dt="2026-07-02T19:15:45.161" v="51" actId="14100"/>
        <pc:sldMkLst>
          <pc:docMk/>
          <pc:sldMk cId="0" sldId="269"/>
        </pc:sldMkLst>
        <pc:spChg chg="mod">
          <ac:chgData name="Lauren Murphy" userId="8848ed26ab0a2902" providerId="LiveId" clId="{D90E3C56-6AC7-41FF-9C28-117B93FC6C42}" dt="2026-07-02T19:15:45.161" v="51" actId="14100"/>
          <ac:spMkLst>
            <pc:docMk/>
            <pc:sldMk cId="0" sldId="269"/>
            <ac:spMk id="30" creationId="{00000000-0000-0000-0000-000000000000}"/>
          </ac:spMkLst>
        </pc:spChg>
      </pc:sldChg>
      <pc:sldChg chg="modSp mod">
        <pc:chgData name="Lauren Murphy" userId="8848ed26ab0a2902" providerId="LiveId" clId="{D90E3C56-6AC7-41FF-9C28-117B93FC6C42}" dt="2026-07-02T19:16:24.767" v="54" actId="1076"/>
        <pc:sldMkLst>
          <pc:docMk/>
          <pc:sldMk cId="0" sldId="271"/>
        </pc:sldMkLst>
        <pc:spChg chg="mod">
          <ac:chgData name="Lauren Murphy" userId="8848ed26ab0a2902" providerId="LiveId" clId="{D90E3C56-6AC7-41FF-9C28-117B93FC6C42}" dt="2026-07-02T19:16:24.767" v="54" actId="1076"/>
          <ac:spMkLst>
            <pc:docMk/>
            <pc:sldMk cId="0" sldId="271"/>
            <ac:spMk id="5" creationId="{00000000-0000-0000-0000-000000000000}"/>
          </ac:spMkLst>
        </pc:spChg>
        <pc:spChg chg="mod">
          <ac:chgData name="Lauren Murphy" userId="8848ed26ab0a2902" providerId="LiveId" clId="{D90E3C56-6AC7-41FF-9C28-117B93FC6C42}" dt="2026-07-02T19:13:06.215" v="37" actId="1076"/>
          <ac:spMkLst>
            <pc:docMk/>
            <pc:sldMk cId="0" sldId="271"/>
            <ac:spMk id="6" creationId="{00000000-0000-0000-0000-000000000000}"/>
          </ac:spMkLst>
        </pc:spChg>
        <pc:spChg chg="mod">
          <ac:chgData name="Lauren Murphy" userId="8848ed26ab0a2902" providerId="LiveId" clId="{D90E3C56-6AC7-41FF-9C28-117B93FC6C42}" dt="2026-07-02T19:13:17.362" v="41" actId="27636"/>
          <ac:spMkLst>
            <pc:docMk/>
            <pc:sldMk cId="0" sldId="271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1390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inematic_high_detail_cutaway_cross_section_ill.png"/>
          <p:cNvPicPr>
            <a:picLocks noChangeAspect="1"/>
          </p:cNvPicPr>
          <p:nvPr/>
        </p:nvPicPr>
        <p:blipFill>
          <a:blip r:embed="rId3"/>
          <a:srcRect l="25488" r="25488"/>
          <a:stretch/>
        </p:blipFill>
        <p:spPr>
          <a:xfrm>
            <a:off x="6217920" y="0"/>
            <a:ext cx="597377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754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Investor deck draft • Philadelphia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94360" y="1078992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E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Procyon Touch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21792" y="186537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A3A"/>
                </a:solidFill>
              </a:rPr>
              <a:t>Housing-enabled aging tech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621792" y="2331720"/>
            <a:ext cx="48463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1792" y="4279392"/>
            <a:ext cx="516636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E2A3A"/>
                </a:solidFill>
              </a:rPr>
              <a:t>We turn underused home space into income, stability, and practical in-home presence through structured live-in support and rent-exchange arrangements.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21792" y="54406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174"/>
                </a:solidFill>
              </a:rPr>
              <a:t>Prepared for investor feedback / Robin Hood Ventures office hours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1792" y="579729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6174"/>
                </a:solidFill>
              </a:rPr>
              <a:t>Opening thesis: not a home-care agency and not a generic roommate board. A structured housing/support marketplace for vulnerable homeowners with unused space.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109960" y="636422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PROCYON TOUCH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problem: aging at home is desired but unsupported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15568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536192"/>
            <a:ext cx="61264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Older and medically fragile homeowners are squeezed from both sides.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21792" y="2084832"/>
            <a:ext cx="589788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want to remain at home, but housing costs, isolation, and daily logistics make it problematic. Traditional home care is expensive and often hourly, episodic, or task-limited. Ordinary roommate platforms are not designed around vulnerability, documentation, safety, or household support expectations.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1792" y="3913631"/>
            <a:ext cx="5486400" cy="1709923"/>
          </a:xfrm>
          <a:prstGeom prst="rect">
            <a:avLst/>
          </a:prstGeom>
          <a:solidFill>
            <a:srgbClr val="FFF3D6"/>
          </a:solidFill>
          <a:ln w="12700">
            <a:solidFill>
              <a:srgbClr val="F1CC8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signal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AARP reports 75% of adults 50+ want to stay in their homes as they age.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AARP Home &amp; Community Preferences Survey, 2024</a:t>
            </a:r>
            <a:endParaRPr lang="en-US" sz="1800" dirty="0"/>
          </a:p>
        </p:txBody>
      </p:sp>
      <p:pic>
        <p:nvPicPr>
          <p:cNvPr id="8" name="Image 0" descr="/mnt/data/a_warm_realistic_interior_documentary_style_photo.png"/>
          <p:cNvPicPr>
            <a:picLocks noChangeAspect="1"/>
          </p:cNvPicPr>
          <p:nvPr/>
        </p:nvPicPr>
        <p:blipFill>
          <a:blip r:embed="rId3"/>
          <a:srcRect l="2000" r="43536"/>
          <a:stretch/>
        </p:blipFill>
        <p:spPr>
          <a:xfrm>
            <a:off x="6995160" y="1499616"/>
            <a:ext cx="4389120" cy="45354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30352" y="6455664"/>
            <a:ext cx="1106424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30352" y="657453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B8B"/>
                </a:solidFill>
              </a:rPr>
              <a:t>Draft for investor feedback • Philadelphia • June 2026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83696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B8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PROCYON TOUCH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solution: a residential support infrastructure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15568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444752"/>
            <a:ext cx="106070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Procyon Touch helps homeowners safely monetize underused rooms through screened live-in support / rent-exchange arrangements.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21792" y="2240280"/>
            <a:ext cx="33375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Structure
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household expectations, support boundaries, shared rules, documentation, and issue logs.</a:t>
            </a:r>
            <a:endParaRPr lang="en-US" sz="1520" dirty="0"/>
          </a:p>
        </p:txBody>
      </p:sp>
      <p:sp>
        <p:nvSpPr>
          <p:cNvPr id="7" name="Text 5"/>
          <p:cNvSpPr/>
          <p:nvPr/>
        </p:nvSpPr>
        <p:spPr>
          <a:xfrm>
            <a:off x="4160520" y="2240280"/>
            <a:ext cx="33375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Screening
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Applicant intake, identity/background-check consent, references, pet/smoke/availability compatibility.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7699248" y="2240280"/>
            <a:ext cx="33375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Matching
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and room terms matched against budget, skills, schedule, and boundaries.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621792" y="4069079"/>
            <a:ext cx="10424160" cy="990597"/>
          </a:xfrm>
          <a:prstGeom prst="rect">
            <a:avLst/>
          </a:prstGeom>
          <a:solidFill>
            <a:srgbClr val="EAF1FB"/>
          </a:solidFill>
          <a:ln w="12700">
            <a:solidFill>
              <a:srgbClr val="B9CDE6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Care, not clinical:
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coordinates housing, documentation, and practical household presence, not medical treatment or emergency response.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527608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E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“Papa sends help to the home; Procyon Touch turns the home itself into part of the care infrastructure.”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30352" y="6455664"/>
            <a:ext cx="1106424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657453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B8B"/>
                </a:solidFill>
              </a:rPr>
              <a:t>Draft for investor feedback • Philadelphia • June 2026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283696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B8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PROCYON TOUCH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15568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350008" y="2176272"/>
            <a:ext cx="50292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737360"/>
            <a:ext cx="190195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Homeowner intake
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terms, needs, boundaries, pets, accessibility, household rules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4590288" y="2176272"/>
            <a:ext cx="50292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98648" y="1737360"/>
            <a:ext cx="190195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Applicant intake
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Budget, availability, skills, references, background-check consent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830568" y="2176272"/>
            <a:ext cx="50292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38928" y="1737360"/>
            <a:ext cx="1901952" cy="2103120"/>
          </a:xfrm>
          <a:prstGeom prst="rect">
            <a:avLst/>
          </a:prstGeom>
          <a:solidFill>
            <a:srgbClr val="EAF1FB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Match + review
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Compatibility scoring, notes, human review, risk flags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9070848" y="2176272"/>
            <a:ext cx="50292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79208" y="1737360"/>
            <a:ext cx="190195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Agreement workflow
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Plain-language terms, support expectations, rent/payment documentation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11311128" y="2176272"/>
            <a:ext cx="502920" cy="0"/>
          </a:xfrm>
          <a:prstGeom prst="line">
            <a:avLst/>
          </a:prstGeom>
          <a:noFill/>
          <a:ln w="19050">
            <a:solidFill>
              <a:srgbClr val="F7F2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19488" y="1737360"/>
            <a:ext cx="190195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Ongoing support
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logs, check-ins, escalation path, renewal/exit documentation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1280160" y="4681728"/>
            <a:ext cx="9601200" cy="749808"/>
          </a:xfrm>
          <a:prstGeom prst="rect">
            <a:avLst/>
          </a:prstGeom>
          <a:solidFill>
            <a:srgbClr val="FFF3D6"/>
          </a:solidFill>
          <a:ln w="12700">
            <a:solidFill>
              <a:srgbClr val="F1CC8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software loop: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 → matching dashboard → exportable data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30352" y="6455664"/>
            <a:ext cx="1106424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657453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B8B"/>
                </a:solidFill>
              </a:rPr>
              <a:t>Draft for investor feedback • Philadelphia • June 2026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83696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B8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PROCYON TOUCH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MVP: first product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15568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481328"/>
            <a:ext cx="539496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controlled workflow before a marketplace.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21792" y="1874520"/>
            <a:ext cx="539496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build should prove safety, demand, and workflow quality — not launch a public roommate marketplace.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539496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Homeowner and applicant intake forms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Compatibility scoring and admin review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Notes/documentation dashboard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JSON/exportable data for early pilots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Later: authentication, secure database, payments, agreements, partner integrations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629400" y="1627632"/>
            <a:ext cx="4434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Matching dashboard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Homeowner: Room in Northwest Philadelphia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Applicant A  •  Score 88  •  Budget + skills + pets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Applicant B  •  Score 61  •  Schedule mismatch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Applicant C  •  Score 74  •  Background consent + neighborhood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Export pilot data 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404103"/>
            <a:ext cx="10332720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B9CDE6"/>
            </a:solidFill>
          </a:ln>
        </p:spPr>
        <p:txBody>
          <a:bodyPr wrap="square" lIns="1524" tIns="1524" rIns="1524" bIns="152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artifact:
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browser MVP prototype created as first technical artifact.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30352" y="6455664"/>
            <a:ext cx="1106424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657453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B8B"/>
                </a:solidFill>
              </a:rPr>
              <a:t>Draft for investor feedback • Philadelphia • June 2026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283696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B8B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PROCYON TOUCH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15568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444752"/>
            <a:ext cx="502920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pressures are converging.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993392"/>
            <a:ext cx="48920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7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Aging-in-place demand
</a:t>
            </a:r>
            <a:endParaRPr lang="en-US" sz="1670" dirty="0"/>
          </a:p>
          <a:p>
            <a:pPr marL="0" indent="0">
              <a:buNone/>
            </a:pPr>
            <a:r>
              <a:rPr lang="en-US" sz="167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75% of adults 50+ want to remain in their homes as they age.</a:t>
            </a:r>
            <a:endParaRPr lang="en-US" sz="1670" dirty="0"/>
          </a:p>
        </p:txBody>
      </p:sp>
      <p:sp>
        <p:nvSpPr>
          <p:cNvPr id="7" name="Text 5"/>
          <p:cNvSpPr/>
          <p:nvPr/>
        </p:nvSpPr>
        <p:spPr>
          <a:xfrm>
            <a:off x="6007608" y="1993392"/>
            <a:ext cx="4892040" cy="1024128"/>
          </a:xfrm>
          <a:prstGeom prst="rect">
            <a:avLst/>
          </a:prstGeom>
          <a:solidFill>
            <a:srgbClr val="EAF1FB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7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Caregiver strain
</a:t>
            </a:r>
            <a:endParaRPr lang="en-US" sz="1670" dirty="0"/>
          </a:p>
          <a:p>
            <a:pPr marL="0" indent="0">
              <a:buNone/>
            </a:pPr>
            <a:r>
              <a:rPr lang="en-US" sz="167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AARP/NAC estimate 63M U.S. family caregivers in 2025.</a:t>
            </a:r>
            <a:endParaRPr lang="en-US" sz="1670" dirty="0"/>
          </a:p>
        </p:txBody>
      </p:sp>
      <p:sp>
        <p:nvSpPr>
          <p:cNvPr id="8" name="Text 6"/>
          <p:cNvSpPr/>
          <p:nvPr/>
        </p:nvSpPr>
        <p:spPr>
          <a:xfrm>
            <a:off x="658368" y="3474720"/>
            <a:ext cx="48920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7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Housing-cost pressure
</a:t>
            </a:r>
            <a:endParaRPr lang="en-US" sz="1670" dirty="0"/>
          </a:p>
          <a:p>
            <a:pPr marL="0" indent="0">
              <a:buNone/>
            </a:pPr>
            <a:r>
              <a:rPr lang="en-US" sz="167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Harvard JCHS reports 34% of older households were cost burdened in 2023.</a:t>
            </a:r>
            <a:endParaRPr lang="en-US" sz="1670" dirty="0"/>
          </a:p>
        </p:txBody>
      </p:sp>
      <p:sp>
        <p:nvSpPr>
          <p:cNvPr id="9" name="Text 7"/>
          <p:cNvSpPr/>
          <p:nvPr/>
        </p:nvSpPr>
        <p:spPr>
          <a:xfrm>
            <a:off x="6007608" y="3474720"/>
            <a:ext cx="4892040" cy="1024128"/>
          </a:xfrm>
          <a:prstGeom prst="rect">
            <a:avLst/>
          </a:prstGeom>
          <a:solidFill>
            <a:srgbClr val="EAF1FB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7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care cost
</a:t>
            </a:r>
            <a:endParaRPr lang="en-US" sz="1670" dirty="0"/>
          </a:p>
          <a:p>
            <a:pPr marL="0" indent="0">
              <a:buNone/>
            </a:pPr>
            <a:r>
              <a:rPr lang="en-US" sz="167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CareScout reports national median non-medical in-home caregiver services at $35/hour in 2025.</a:t>
            </a:r>
            <a:endParaRPr lang="en-US" sz="1670" dirty="0"/>
          </a:p>
        </p:txBody>
      </p:sp>
      <p:sp>
        <p:nvSpPr>
          <p:cNvPr id="10" name="Text 8"/>
          <p:cNvSpPr/>
          <p:nvPr/>
        </p:nvSpPr>
        <p:spPr>
          <a:xfrm>
            <a:off x="658368" y="5486400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AARP 2024; AARP/National Alliance for Caregiving 2025; Harvard JCHS 2025; CareScout/Genworth 2026 release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30352" y="6455664"/>
            <a:ext cx="1106424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657453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B8B"/>
                </a:solidFill>
              </a:rPr>
              <a:t>Draft for investor feedback • Philadelphia • June 2026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283696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B8B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PROCYON TOUCH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Economic value pool at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15568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417320"/>
            <a:ext cx="731520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100,000-match national scenario — not a revenue projection.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66760" y="1353312"/>
            <a:ext cx="3063240" cy="1005840"/>
          </a:xfrm>
          <a:prstGeom prst="rect">
            <a:avLst/>
          </a:prstGeom>
          <a:solidFill>
            <a:srgbClr val="1E2A3A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~$2.98B/year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combined economic value pool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76656" y="248716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63A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$800M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76656" y="2990088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E2A3A"/>
                </a:solidFill>
              </a:rPr>
              <a:t>Fall-related cost exposure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76656" y="3538728"/>
            <a:ext cx="3154680" cy="0"/>
          </a:xfrm>
          <a:prstGeom prst="line">
            <a:avLst/>
          </a:prstGeom>
          <a:noFill/>
          <a:ln w="15240">
            <a:solidFill>
              <a:srgbClr val="C9D8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98848" y="248716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63A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$335M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498848" y="2990088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E2A3A"/>
                </a:solidFill>
              </a:rPr>
              <a:t>Isolation-linked Medicare spending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4498848" y="3538728"/>
            <a:ext cx="3154680" cy="0"/>
          </a:xfrm>
          <a:prstGeom prst="line">
            <a:avLst/>
          </a:prstGeom>
          <a:noFill/>
          <a:ln w="15240">
            <a:solidFill>
              <a:srgbClr val="C9D8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21040" y="248716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63A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$647M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8321040" y="2990088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E2A3A"/>
                </a:solidFill>
              </a:rPr>
              <a:t>Delayed institutional LTC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321040" y="3538728"/>
            <a:ext cx="3154680" cy="0"/>
          </a:xfrm>
          <a:prstGeom prst="line">
            <a:avLst/>
          </a:prstGeom>
          <a:noFill/>
          <a:ln w="15240">
            <a:solidFill>
              <a:srgbClr val="C9D8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" y="3803904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63A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$240M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76656" y="4306824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E2A3A"/>
                </a:solidFill>
              </a:rPr>
              <a:t>Avoided support escalation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676656" y="4855464"/>
            <a:ext cx="3154680" cy="0"/>
          </a:xfrm>
          <a:prstGeom prst="line">
            <a:avLst/>
          </a:prstGeom>
          <a:noFill/>
          <a:ln w="15240">
            <a:solidFill>
              <a:srgbClr val="C9D8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98848" y="3803904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D7A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$360M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4498848" y="4306824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E2A3A"/>
                </a:solidFill>
              </a:rPr>
              <a:t>Below-market rent relief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4498848" y="4855464"/>
            <a:ext cx="3154680" cy="0"/>
          </a:xfrm>
          <a:prstGeom prst="line">
            <a:avLst/>
          </a:prstGeom>
          <a:noFill/>
          <a:ln w="15240">
            <a:solidFill>
              <a:srgbClr val="CDE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21040" y="3803904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D7A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$600M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8321040" y="4306824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E2A3A"/>
                </a:solidFill>
              </a:rPr>
              <a:t>Homeowner room monetization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321040" y="4855464"/>
            <a:ext cx="3154680" cy="0"/>
          </a:xfrm>
          <a:prstGeom prst="line">
            <a:avLst/>
          </a:prstGeom>
          <a:noFill/>
          <a:ln w="15240">
            <a:solidFill>
              <a:srgbClr val="CDE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5212080"/>
            <a:ext cx="10698480" cy="685800"/>
          </a:xfrm>
          <a:prstGeom prst="rect">
            <a:avLst/>
          </a:prstGeom>
          <a:solidFill>
            <a:srgbClr val="FFF3D6"/>
          </a:solidFill>
          <a:ln w="12700">
            <a:solidFill>
              <a:srgbClr val="F1CC80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outcomes to track:
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falls/near-falls • isolation/depression proxy • ER/urgent-care utilization • care escalation • match retention • issue frequency</a:t>
            </a:r>
            <a:endParaRPr lang="en-US" sz="1520" dirty="0"/>
          </a:p>
        </p:txBody>
      </p:sp>
      <p:sp>
        <p:nvSpPr>
          <p:cNvPr id="26" name="Text 24"/>
          <p:cNvSpPr/>
          <p:nvPr/>
        </p:nvSpPr>
        <p:spPr>
          <a:xfrm>
            <a:off x="658368" y="6053328"/>
            <a:ext cx="10789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 value pool = household economic value + avoidable system-cost exposure. Procyon Touch only needs to capture a fraction through coordination, fees, screening, and workflow support.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530352" y="6455664"/>
            <a:ext cx="1106424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0352" y="657453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B8B"/>
                </a:solidFill>
              </a:rPr>
              <a:t>Draft for investor feedback • Philadelphia • June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283696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B8B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PROCYON TOUCH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Assumptions behind the value pool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15568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408176"/>
            <a:ext cx="1060704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78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directional, conservative assumptions for investor discussion — not operating commitments.</a:t>
            </a:r>
            <a:endParaRPr lang="en-US" sz="178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5166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4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System-cost exposure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Falls: 1% reduction in the $80B nonfatal older-adult fall burden = $800M</a:t>
            </a:r>
            <a:endParaRPr lang="en-US" sz="1540" dirty="0"/>
          </a:p>
          <a:p>
            <a:pPr marL="0" indent="0">
              <a:buNone/>
            </a:pP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Isolation: 5% reduction in $6.7B excess Medicare spending tied to social isolation = $335M</a:t>
            </a:r>
            <a:endParaRPr lang="en-US" sz="1540" dirty="0"/>
          </a:p>
          <a:p>
            <a:pPr marL="0" indent="0">
              <a:buNone/>
            </a:pP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Institutional LTC: 1% reduction in Medicaid-paid institutional LTC exposure = $647M</a:t>
            </a:r>
            <a:endParaRPr lang="en-US" sz="1540" dirty="0"/>
          </a:p>
          <a:p>
            <a:pPr marL="0" indent="0">
              <a:buNone/>
            </a:pP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Support escalation: 100,000 households × $200/month = $240M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6355080" y="1920240"/>
            <a:ext cx="5166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4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Household economics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Rent relief: 100,000 live-in matches × $300/month renter savings = $360M</a:t>
            </a:r>
            <a:endParaRPr lang="en-US" sz="1540" dirty="0"/>
          </a:p>
          <a:p>
            <a:pPr marL="0" indent="0">
              <a:buNone/>
            </a:pP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Homeowner monetization: 100,000 homeowners × $500/month room income = $600M</a:t>
            </a:r>
            <a:endParaRPr lang="en-US" sz="1540" dirty="0"/>
          </a:p>
          <a:p>
            <a:pPr marL="0" indent="0">
              <a:buNone/>
            </a:pP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$300 rent relief assumes a ~$500/month Procyon live-in arrangement versus a ~$800/month low-to-mid Philadelphia shared-room alternative.</a:t>
            </a:r>
            <a:endParaRPr lang="en-US" sz="1540" dirty="0"/>
          </a:p>
        </p:txBody>
      </p:sp>
      <p:sp>
        <p:nvSpPr>
          <p:cNvPr id="8" name="Text 6"/>
          <p:cNvSpPr/>
          <p:nvPr/>
        </p:nvSpPr>
        <p:spPr>
          <a:xfrm>
            <a:off x="713232" y="5596128"/>
            <a:ext cx="1051560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anchors: Injury Prevention/BMJ 2024; AARP/Stanford 2017; KFF 2025; Procyon Touch working scenario assumptions.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30352" y="6455664"/>
            <a:ext cx="1106424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657453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B8B"/>
                </a:solidFill>
              </a:rPr>
              <a:t>Draft for investor feedback • Philadelphia • June 2026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283696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B8B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PROCYON TOUCH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Competitive landscape: the missing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15568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417320"/>
            <a:ext cx="106070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Papa sends help to the home. Procyon Touch makes the home part of the support system.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566928" y="1874520"/>
            <a:ext cx="2331720" cy="411480"/>
          </a:xfrm>
          <a:prstGeom prst="rect">
            <a:avLst/>
          </a:prstGeom>
          <a:solidFill>
            <a:srgbClr val="1E2A3A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Status quo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962656" y="1874520"/>
            <a:ext cx="2743200" cy="411480"/>
          </a:xfrm>
          <a:prstGeom prst="rect">
            <a:avLst/>
          </a:prstGeom>
          <a:solidFill>
            <a:srgbClr val="1E2A3A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What it does well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769864" y="1874520"/>
            <a:ext cx="3063240" cy="411480"/>
          </a:xfrm>
          <a:prstGeom prst="rect">
            <a:avLst/>
          </a:prstGeom>
          <a:solidFill>
            <a:srgbClr val="1E2A3A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Gap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897112" y="1874520"/>
            <a:ext cx="3063240" cy="411480"/>
          </a:xfrm>
          <a:prstGeom prst="rect">
            <a:avLst/>
          </a:prstGeom>
          <a:solidFill>
            <a:srgbClr val="1E2A3A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Procyon Touch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2377440"/>
            <a:ext cx="23317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E2A3A"/>
                </a:solidFill>
              </a:rPr>
              <a:t>Papa / companion visits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2962656" y="2377440"/>
            <a:ext cx="27432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A3A"/>
                </a:solidFill>
              </a:rPr>
              <a:t>Errands, transport, companionship, plan-funded visits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5769864" y="2377440"/>
            <a:ext cx="306324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A3A"/>
                </a:solidFill>
              </a:rPr>
              <a:t>Visit-based; no live-in housing or home monetization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8897112" y="2377440"/>
            <a:ext cx="306324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E2A3A"/>
                </a:solidFill>
              </a:rPr>
              <a:t>Residential support infrastructure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566928" y="3310128"/>
            <a:ext cx="2331720" cy="877824"/>
          </a:xfrm>
          <a:prstGeom prst="rect">
            <a:avLst/>
          </a:prstGeom>
          <a:solidFill>
            <a:srgbClr val="F7FAFC"/>
          </a:solidFill>
          <a:ln w="6350">
            <a:solidFill>
              <a:srgbClr val="D8DF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E2A3A"/>
                </a:solidFill>
              </a:rPr>
              <a:t>Home-care agencies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2962656" y="3310128"/>
            <a:ext cx="2743200" cy="877824"/>
          </a:xfrm>
          <a:prstGeom prst="rect">
            <a:avLst/>
          </a:prstGeom>
          <a:solidFill>
            <a:srgbClr val="F7FAFC"/>
          </a:solidFill>
          <a:ln w="6350">
            <a:solidFill>
              <a:srgbClr val="D8DF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A3A"/>
                </a:solidFill>
              </a:rPr>
              <a:t>Trained care labor for defined tasks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5769864" y="3310128"/>
            <a:ext cx="3063240" cy="877824"/>
          </a:xfrm>
          <a:prstGeom prst="rect">
            <a:avLst/>
          </a:prstGeom>
          <a:solidFill>
            <a:srgbClr val="F7FAFC"/>
          </a:solidFill>
          <a:ln w="6350">
            <a:solidFill>
              <a:srgbClr val="D8DF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A3A"/>
                </a:solidFill>
              </a:rPr>
              <a:t>Expensive; not a housing or income solution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8897112" y="3310128"/>
            <a:ext cx="3063240" cy="877824"/>
          </a:xfrm>
          <a:prstGeom prst="rect">
            <a:avLst/>
          </a:prstGeom>
          <a:solidFill>
            <a:srgbClr val="F7FAFC"/>
          </a:solidFill>
          <a:ln w="6350">
            <a:solidFill>
              <a:srgbClr val="D8DF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E2A3A"/>
                </a:solidFill>
              </a:rPr>
              <a:t>Care-adjacent, lower-intensity layer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566928" y="4242816"/>
            <a:ext cx="23317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E2A3A"/>
                </a:solidFill>
              </a:rPr>
              <a:t>Roommate platforms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2962656" y="4242816"/>
            <a:ext cx="27432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A3A"/>
                </a:solidFill>
              </a:rPr>
              <a:t>Supply/demand for rooms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5769864" y="4242816"/>
            <a:ext cx="306324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A3A"/>
                </a:solidFill>
              </a:rPr>
              <a:t>Not built for vulnerable homeowners, documentation, or support terms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8897112" y="4242816"/>
            <a:ext cx="306324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E2A3A"/>
                </a:solidFill>
              </a:rPr>
              <a:t>Screened, structured live-in support exchange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621792" y="5513832"/>
            <a:ext cx="77724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“no competition” claim, the status quo is the competitor.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530352" y="6455664"/>
            <a:ext cx="1106424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0352" y="657453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B8B"/>
                </a:solidFill>
              </a:rPr>
              <a:t>Draft for investor feedback • Philadelphia • June 2026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83696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B8B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PROCYON TOUCH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model: assumptions to validate in pilot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15568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417320"/>
            <a:ext cx="89611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can come from coordination, trust, and workflow — not medical billing.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13232" y="1965960"/>
            <a:ext cx="33832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Homeowner onboarding fee
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One-time intake, room readiness review, profile setup, and support-expectation documentation.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407408" y="1965960"/>
            <a:ext cx="33832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platform/support fee
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 tools, check-in workflows, issue logs, and renewal/exit support.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101584" y="1965960"/>
            <a:ext cx="33832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Screening pass-through + margin
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Identity/background-check coordination, references, optional verification workflows, partner services.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87552" y="4439926"/>
            <a:ext cx="10058400" cy="1000754"/>
          </a:xfrm>
          <a:prstGeom prst="rect">
            <a:avLst/>
          </a:prstGeom>
          <a:solidFill>
            <a:srgbClr val="EAF1FB"/>
          </a:solidFill>
          <a:ln w="12700">
            <a:solidFill>
              <a:srgbClr val="B9CDE6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metric goal:
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willingness to pay, conversion rate, match quality, issue frequency, and operating cost per successful arrangement.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30352" y="6455664"/>
            <a:ext cx="1106424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657453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B8B"/>
                </a:solidFill>
              </a:rPr>
              <a:t>Draft for investor feedback • Philadelphia • June 2026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283696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B8B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69748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PROCYON TOUCH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448056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Go-to-market: Philadelphia pilot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15568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6873" y="1160780"/>
            <a:ext cx="512064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locally, manually, and safely.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21792" y="1595882"/>
            <a:ext cx="544068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Northwest Philadelphia is a practical launch environment: older rowhomes, homeowners with unused rooms, transit needs, students/workers seeking affordable housing, and strong neighborhood networks.</a:t>
            </a:r>
            <a:endParaRPr lang="en-US" sz="1640" dirty="0"/>
          </a:p>
        </p:txBody>
      </p:sp>
      <p:sp>
        <p:nvSpPr>
          <p:cNvPr id="7" name="Text 5"/>
          <p:cNvSpPr/>
          <p:nvPr/>
        </p:nvSpPr>
        <p:spPr>
          <a:xfrm>
            <a:off x="713232" y="2647443"/>
            <a:ext cx="5212080" cy="111988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</p:spPr>
        <p:txBody>
          <a:bodyPr wrap="square" lIns="36576" tIns="36576" rIns="36576" bIns="36576" rtlCol="0" anchor="ctr">
            <a:normAutofit lnSpcReduction="10000"/>
          </a:bodyPr>
          <a:lstStyle/>
          <a:p>
            <a:pPr marL="0" indent="0">
              <a:spcAft>
                <a:spcPts val="1100"/>
              </a:spcAft>
              <a:buNone/>
            </a:pPr>
            <a:r>
              <a:rPr sz="1600" b="1" dirty="0">
                <a:solidFill>
                  <a:srgbClr val="1D2A3C"/>
                </a:solidFill>
                <a:latin typeface="Arial"/>
              </a:rPr>
              <a:t>Phase 1: Discovery</a:t>
            </a:r>
            <a:endParaRPr lang="en-US" sz="1600" dirty="0"/>
          </a:p>
          <a:p>
            <a:pPr>
              <a:spcAft>
                <a:spcPts val="0"/>
              </a:spcAft>
            </a:pPr>
            <a:r>
              <a:rPr sz="1550" dirty="0">
                <a:solidFill>
                  <a:srgbClr val="1D2A3C"/>
                </a:solidFill>
                <a:latin typeface="Arial"/>
              </a:rPr>
              <a:t>Interview 25–50 homeowners, applicants, elder/housing advocates, local operators, and aging-in-place / village organizations.</a:t>
            </a:r>
          </a:p>
        </p:txBody>
      </p:sp>
      <p:sp>
        <p:nvSpPr>
          <p:cNvPr id="8" name="Text 6"/>
          <p:cNvSpPr/>
          <p:nvPr/>
        </p:nvSpPr>
        <p:spPr>
          <a:xfrm>
            <a:off x="713232" y="3830320"/>
            <a:ext cx="5212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2: Controlled pilot</a:t>
            </a:r>
            <a:r>
              <a:rPr lang="en-US" sz="148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a small cohort; test workflow without broad public launch.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713232" y="4873752"/>
            <a:ext cx="5212080" cy="923543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3: Playbook</a:t>
            </a:r>
            <a:r>
              <a:rPr lang="en-US" sz="148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 intake, risk categories, agreements, partner referral channels.</a:t>
            </a:r>
            <a:endParaRPr lang="en-US" sz="1480" dirty="0"/>
          </a:p>
        </p:txBody>
      </p:sp>
      <p:pic>
        <p:nvPicPr>
          <p:cNvPr id="10" name="Image 0" descr="/mnt/data/a_realistic_cinematic_evening_early_night_urban_r.png"/>
          <p:cNvPicPr>
            <a:picLocks noChangeAspect="1"/>
          </p:cNvPicPr>
          <p:nvPr/>
        </p:nvPicPr>
        <p:blipFill>
          <a:blip r:embed="rId3"/>
          <a:srcRect l="17531" r="17531"/>
          <a:stretch/>
        </p:blipFill>
        <p:spPr>
          <a:xfrm>
            <a:off x="6446520" y="1444752"/>
            <a:ext cx="4800600" cy="4160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4672" y="5934456"/>
            <a:ext cx="105156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pilot is a strength here because trust/safety cannot be solved by software alone.</a:t>
            </a:r>
            <a:endParaRPr lang="en-US" sz="1480" dirty="0"/>
          </a:p>
        </p:txBody>
      </p:sp>
      <p:sp>
        <p:nvSpPr>
          <p:cNvPr id="12" name="Shape 9"/>
          <p:cNvSpPr/>
          <p:nvPr/>
        </p:nvSpPr>
        <p:spPr>
          <a:xfrm>
            <a:off x="530352" y="6455664"/>
            <a:ext cx="1106424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30352" y="657453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B8B"/>
                </a:solidFill>
              </a:rPr>
              <a:t>Draft for investor feedback • Philadelphia • June 2026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283696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B8B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PROCYON TOUCH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Candidate pilot geography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15568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417320"/>
            <a:ext cx="75895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Northwest Philadelphia as a test market — not a final map.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21792" y="1755648"/>
            <a:ext cx="87782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neighborhoods as test cells for trust, housing fit, applicant supply, and operational risk.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13232" y="2395728"/>
            <a:ext cx="4983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Mount Airy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Pros: older homes, spare-room potential, civic networks, diversity, transit access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Watch-outs: trust-building; privacy sensitivity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99632" y="2395728"/>
            <a:ext cx="4983480" cy="1078992"/>
          </a:xfrm>
          <a:prstGeom prst="rect">
            <a:avLst/>
          </a:prstGeom>
          <a:solidFill>
            <a:srgbClr val="EAF6EF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Germantown / Wayne Junction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Pros: older housing stock, transit nodes, affordability pressure, strong community need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Watch-outs: housing-condition variability; careful screening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3813048"/>
            <a:ext cx="4983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Chestnut Hill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Pros: older homeowners, larger homes, neighborhood institutions, possible ability to pay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Watch-outs: less acute affordability pressure; cultural fit matters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199632" y="3813048"/>
            <a:ext cx="4983480" cy="1078992"/>
          </a:xfrm>
          <a:prstGeom prst="rect">
            <a:avLst/>
          </a:prstGeom>
          <a:solidFill>
            <a:srgbClr val="EAF6EF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East Falls / Roxborough / Manayunk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Pros: rowhomes/twins, transit, education/healthcare-adjacent applicant supply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Watch-outs: hills/accessibility; younger renter dynamics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3232" y="5138927"/>
            <a:ext cx="10561320" cy="1078991"/>
          </a:xfrm>
          <a:prstGeom prst="rect">
            <a:avLst/>
          </a:prstGeom>
          <a:solidFill>
            <a:srgbClr val="FFF3CD"/>
          </a:solidFill>
          <a:ln w="12700">
            <a:solidFill>
              <a:srgbClr val="EDB044"/>
            </a:solidFill>
          </a:ln>
        </p:spPr>
        <p:txBody>
          <a:bodyPr wrap="square" lIns="73152" tIns="54864" rIns="73152" bIns="36576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550" b="1" dirty="0">
                <a:solidFill>
                  <a:srgbClr val="1D2A3C"/>
                </a:solidFill>
                <a:latin typeface="Arial"/>
              </a:rPr>
              <a:t>Local ecosystem aside: </a:t>
            </a:r>
            <a:r>
              <a:rPr sz="1550" b="0" dirty="0">
                <a:solidFill>
                  <a:srgbClr val="1D2A3C"/>
                </a:solidFill>
                <a:latin typeface="Arial"/>
              </a:rPr>
              <a:t>Northwest Village Network and similar “Village” models validate aging-in-place demand in Northwest Philadelphia.</a:t>
            </a:r>
            <a:endParaRPr lang="en-US" sz="1550" dirty="0"/>
          </a:p>
          <a:p>
            <a:pPr>
              <a:spcAft>
                <a:spcPts val="0"/>
              </a:spcAft>
            </a:pPr>
            <a:r>
              <a:rPr sz="1450" dirty="0">
                <a:solidFill>
                  <a:srgbClr val="1D2A3C"/>
                </a:solidFill>
                <a:latin typeface="Arial"/>
              </a:rPr>
              <a:t>Use as discovery targets only</a:t>
            </a:r>
            <a:r>
              <a:rPr lang="en-US" sz="1450" dirty="0">
                <a:solidFill>
                  <a:srgbClr val="1D2A3C"/>
                </a:solidFill>
                <a:latin typeface="Arial"/>
              </a:rPr>
              <a:t>, </a:t>
            </a:r>
            <a:r>
              <a:rPr sz="1450" dirty="0">
                <a:solidFill>
                  <a:srgbClr val="1D2A3C"/>
                </a:solidFill>
                <a:latin typeface="Arial"/>
              </a:rPr>
              <a:t>no partnership implied. Gap: volunteer/social support networks are not live-in rent-exchange or home-monetization infrastructure.</a:t>
            </a:r>
          </a:p>
        </p:txBody>
      </p:sp>
      <p:sp>
        <p:nvSpPr>
          <p:cNvPr id="12" name="Shape 10"/>
          <p:cNvSpPr/>
          <p:nvPr/>
        </p:nvSpPr>
        <p:spPr>
          <a:xfrm>
            <a:off x="530352" y="6455664"/>
            <a:ext cx="1106424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" y="657453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B8B"/>
                </a:solidFill>
              </a:rPr>
              <a:t>Draft for investor feedback • Philadelphia • June 2026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283696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B8B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PROCYON TOUCH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Founder-market fit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15568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a_warm_natural_looking_outdoor_porch_scene_in_fro.png"/>
          <p:cNvPicPr>
            <a:picLocks noChangeAspect="1"/>
          </p:cNvPicPr>
          <p:nvPr/>
        </p:nvPicPr>
        <p:blipFill>
          <a:blip r:embed="rId3"/>
          <a:srcRect l="5000" r="38146"/>
          <a:stretch/>
        </p:blipFill>
        <p:spPr>
          <a:xfrm>
            <a:off x="6629400" y="1444752"/>
            <a:ext cx="4526280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" y="1572768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E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Lauren Murphy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E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Founder • Procyon Touch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13232" y="2633472"/>
            <a:ext cx="5394960" cy="2090927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years of City of Philadelphia management: public-facing operations, facilities, staffing, conflict resolution, and service delivery.</a:t>
            </a:r>
            <a:endParaRPr lang="en-US" sz="1620" dirty="0"/>
          </a:p>
          <a:p>
            <a:pPr marL="0" indent="0">
              <a:buNone/>
            </a:pP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Generative AI coursework through Johns Hopkins.</a:t>
            </a:r>
            <a:endParaRPr lang="en-US" sz="1620" dirty="0"/>
          </a:p>
          <a:p>
            <a:pPr marL="0" indent="0">
              <a:buNone/>
            </a:pP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experience with medically fragile housing stability and homeowner/tenant coordination.</a:t>
            </a:r>
            <a:endParaRPr lang="en-US" sz="1620" dirty="0"/>
          </a:p>
          <a:p>
            <a:pPr marL="0" indent="0">
              <a:buNone/>
            </a:pP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620" dirty="0"/>
          </a:p>
        </p:txBody>
      </p:sp>
      <p:sp>
        <p:nvSpPr>
          <p:cNvPr id="8" name="Text 5"/>
          <p:cNvSpPr/>
          <p:nvPr/>
        </p:nvSpPr>
        <p:spPr>
          <a:xfrm>
            <a:off x="676656" y="5685537"/>
            <a:ext cx="5212080" cy="566928"/>
          </a:xfrm>
          <a:prstGeom prst="rect">
            <a:avLst/>
          </a:prstGeom>
          <a:solidFill>
            <a:srgbClr val="EAF1FB"/>
          </a:solidFill>
          <a:ln w="12700">
            <a:solidFill>
              <a:srgbClr val="B9CD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systems + AI literacy + lived housing/fragility insight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530352" y="6455664"/>
            <a:ext cx="1106424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30352" y="657453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B8B"/>
                </a:solidFill>
              </a:rPr>
              <a:t>Draft for investor feedback • Philadelphia • June 2026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83696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B8B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PROCYON TOUCH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of funds: $250k angel-stage ask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15568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417320"/>
            <a:ext cx="80467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$250,000 to build MVP + validate a Philadelphia pilot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13232" y="1901952"/>
            <a:ext cx="324612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E2A3A"/>
                </a:solidFill>
              </a:rPr>
              <a:t>MVP product build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4005072" y="1901952"/>
            <a:ext cx="8229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63A4"/>
                </a:solidFill>
              </a:rPr>
              <a:t>$70k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83480" y="1901952"/>
            <a:ext cx="60350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26174"/>
                </a:solidFill>
              </a:rPr>
              <a:t>Secure web app, intake flows, matching dashboard, admin tools, reporting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3232" y="2350008"/>
            <a:ext cx="10332720" cy="0"/>
          </a:xfrm>
          <a:prstGeom prst="line">
            <a:avLst/>
          </a:prstGeom>
          <a:noFill/>
          <a:ln w="889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2478024"/>
            <a:ext cx="324612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E2A3A"/>
                </a:solidFill>
              </a:rPr>
              <a:t>Pilot operations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4005072" y="2478024"/>
            <a:ext cx="8229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63A4"/>
                </a:solidFill>
              </a:rPr>
              <a:t>$45k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2478024"/>
            <a:ext cx="60350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26174"/>
                </a:solidFill>
              </a:rPr>
              <a:t>Discovery, onboarding, documentation, support workflow testing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3232" y="2926080"/>
            <a:ext cx="10332720" cy="0"/>
          </a:xfrm>
          <a:prstGeom prst="line">
            <a:avLst/>
          </a:prstGeom>
          <a:noFill/>
          <a:ln w="889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3054096"/>
            <a:ext cx="324612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E2A3A"/>
                </a:solidFill>
              </a:rPr>
              <a:t>Legal / compliance / insurance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4005072" y="3054096"/>
            <a:ext cx="8229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63A4"/>
                </a:solidFill>
              </a:rPr>
              <a:t>$40k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3054096"/>
            <a:ext cx="60350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26174"/>
                </a:solidFill>
              </a:rPr>
              <a:t>Housing/rental review, agreements, liability, privacy, insurance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" y="3502152"/>
            <a:ext cx="10332720" cy="0"/>
          </a:xfrm>
          <a:prstGeom prst="line">
            <a:avLst/>
          </a:prstGeom>
          <a:noFill/>
          <a:ln w="889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" y="3630168"/>
            <a:ext cx="324612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E2A3A"/>
                </a:solidFill>
              </a:rPr>
              <a:t>Trust &amp; safety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4005072" y="3630168"/>
            <a:ext cx="8229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63A4"/>
                </a:solidFill>
              </a:rPr>
              <a:t>$25k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3630168"/>
            <a:ext cx="60350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26174"/>
                </a:solidFill>
              </a:rPr>
              <a:t>Background-check vendor setup, identity verification, protocols, escalation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13232" y="4078224"/>
            <a:ext cx="10332720" cy="0"/>
          </a:xfrm>
          <a:prstGeom prst="line">
            <a:avLst/>
          </a:prstGeom>
          <a:noFill/>
          <a:ln w="889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" y="4206240"/>
            <a:ext cx="324612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E2A3A"/>
                </a:solidFill>
              </a:rPr>
              <a:t>Founder runway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4005072" y="4206240"/>
            <a:ext cx="8229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63A4"/>
                </a:solidFill>
              </a:rPr>
              <a:t>$35k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83480" y="4206240"/>
            <a:ext cx="60350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26174"/>
                </a:solidFill>
              </a:rPr>
              <a:t>Modest stipend to execute consistently through pilot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13232" y="4654296"/>
            <a:ext cx="10332720" cy="0"/>
          </a:xfrm>
          <a:prstGeom prst="line">
            <a:avLst/>
          </a:prstGeom>
          <a:noFill/>
          <a:ln w="889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3232" y="4782312"/>
            <a:ext cx="324612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E2A3A"/>
                </a:solidFill>
              </a:rPr>
              <a:t>Design / research / admin / contingency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4005072" y="4782312"/>
            <a:ext cx="8229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63A4"/>
                </a:solidFill>
              </a:rPr>
              <a:t>$35k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83480" y="4782312"/>
            <a:ext cx="60350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26174"/>
                </a:solidFill>
              </a:rPr>
              <a:t>Branding, user interviews, software, bookkeeping, reserve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13232" y="5230368"/>
            <a:ext cx="10332720" cy="0"/>
          </a:xfrm>
          <a:prstGeom prst="line">
            <a:avLst/>
          </a:prstGeom>
          <a:noFill/>
          <a:ln w="889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49808" y="5440680"/>
            <a:ext cx="10241280" cy="658368"/>
          </a:xfrm>
          <a:prstGeom prst="rect">
            <a:avLst/>
          </a:prstGeom>
          <a:solidFill>
            <a:srgbClr val="FFF3D6"/>
          </a:solidFill>
          <a:ln w="12700">
            <a:solidFill>
              <a:srgbClr val="F1CC8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RHV range note:
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RHV states investments generally range from $250k–$1M; this uses the low end as a milestone-driven assumption.</a:t>
            </a:r>
            <a:endParaRPr lang="en-US" sz="1420" dirty="0"/>
          </a:p>
        </p:txBody>
      </p:sp>
      <p:sp>
        <p:nvSpPr>
          <p:cNvPr id="31" name="Shape 29"/>
          <p:cNvSpPr/>
          <p:nvPr/>
        </p:nvSpPr>
        <p:spPr>
          <a:xfrm>
            <a:off x="530352" y="6455664"/>
            <a:ext cx="1106424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0352" y="657453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B8B"/>
                </a:solidFill>
              </a:rPr>
              <a:t>Draft for investor feedback • Philadelphia • June 2026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283696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B8B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PROCYON TOUCH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Milestones and current ask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15568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417320"/>
            <a:ext cx="777240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purpose of this round is to earn the next proof point.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04672" y="2011680"/>
            <a:ext cx="9921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0–60 days
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interviews + legal scoping + MVP refinement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04672" y="2880360"/>
            <a:ext cx="9921240" cy="640080"/>
          </a:xfrm>
          <a:prstGeom prst="rect">
            <a:avLst/>
          </a:prstGeom>
          <a:solidFill>
            <a:srgbClr val="EAF1FB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60–120 days
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pilot intake + screening workflow + match-review loop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3749040"/>
            <a:ext cx="9921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120–180 days
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metrics: willingness to pay, match quality, issue rates, operating cost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04672" y="4617720"/>
            <a:ext cx="9921240" cy="640080"/>
          </a:xfrm>
          <a:prstGeom prst="rect">
            <a:avLst/>
          </a:prstGeom>
          <a:solidFill>
            <a:srgbClr val="EAF1FB"/>
          </a:solidFill>
          <a:ln w="12700">
            <a:solidFill>
              <a:srgbClr val="D8DF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Post-pilot
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Seed-ready story: repeatable workflow, partner channel, pricing evidence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60120" y="5532120"/>
            <a:ext cx="9646920" cy="621792"/>
          </a:xfrm>
          <a:prstGeom prst="rect">
            <a:avLst/>
          </a:prstGeom>
          <a:solidFill>
            <a:srgbClr val="FFF3D6"/>
          </a:solidFill>
          <a:ln w="12700">
            <a:solidFill>
              <a:srgbClr val="F1CC8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request:
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feedback on category framing, proof points, and the path to a $250k angel-stage raise.</a:t>
            </a:r>
            <a:endParaRPr lang="en-US" sz="1620" dirty="0"/>
          </a:p>
        </p:txBody>
      </p:sp>
      <p:sp>
        <p:nvSpPr>
          <p:cNvPr id="11" name="Shape 9"/>
          <p:cNvSpPr/>
          <p:nvPr/>
        </p:nvSpPr>
        <p:spPr>
          <a:xfrm>
            <a:off x="530352" y="6455664"/>
            <a:ext cx="1106424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657453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B8B"/>
                </a:solidFill>
              </a:rPr>
              <a:t>Draft for investor feedback • Philadelphia • June 2026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283696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B8B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PROCYON TOUCH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Selected sources and investor notes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15568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280161"/>
            <a:ext cx="4846320" cy="272285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external anchors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13232" y="1657096"/>
            <a:ext cx="10744200" cy="361188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1320">
                <a:solidFill>
                  <a:srgbClr val="1D2A3C"/>
                </a:solidFill>
                <a:latin typeface="Arial"/>
              </a:rPr>
              <a:t>• AARP Home &amp; Community Preferences Survey, 2024: 75% of adults 50+ want to stay in their homes; 73% want to stay in their communities.</a:t>
            </a:r>
            <a:endParaRPr lang="en-US" sz="1270" dirty="0"/>
          </a:p>
          <a:p>
            <a:pPr>
              <a:spcAft>
                <a:spcPts val="0"/>
              </a:spcAft>
            </a:pPr>
            <a:r>
              <a:rPr sz="1320">
                <a:solidFill>
                  <a:srgbClr val="1D2A3C"/>
                </a:solidFill>
                <a:latin typeface="Arial"/>
              </a:rPr>
              <a:t>• AARP / National Alliance for Caregiving, Caregiving in the U.S. 2025: 63M Americans are family caregivers.</a:t>
            </a:r>
          </a:p>
          <a:p>
            <a:pPr>
              <a:spcAft>
                <a:spcPts val="0"/>
              </a:spcAft>
            </a:pPr>
            <a:r>
              <a:rPr sz="1320">
                <a:solidFill>
                  <a:srgbClr val="1D2A3C"/>
                </a:solidFill>
                <a:latin typeface="Arial"/>
              </a:rPr>
              <a:t>• Harvard Joint Center for Housing Studies, 2025: 34% of older households were cost burdened in 2023.</a:t>
            </a:r>
          </a:p>
          <a:p>
            <a:pPr>
              <a:spcAft>
                <a:spcPts val="0"/>
              </a:spcAft>
            </a:pPr>
            <a:r>
              <a:rPr sz="1320">
                <a:solidFill>
                  <a:srgbClr val="1D2A3C"/>
                </a:solidFill>
                <a:latin typeface="Arial"/>
              </a:rPr>
              <a:t>• CareScout / Genworth, 2026 release of 2025 Cost of Care Survey: national median non-medical in-home caregiver services: $35/hour.</a:t>
            </a:r>
          </a:p>
          <a:p>
            <a:pPr>
              <a:spcAft>
                <a:spcPts val="0"/>
              </a:spcAft>
            </a:pPr>
            <a:r>
              <a:rPr sz="1320">
                <a:solidFill>
                  <a:srgbClr val="1D2A3C"/>
                </a:solidFill>
                <a:latin typeface="Arial"/>
              </a:rPr>
              <a:t>• Injury Prevention/BMJ 2024: approximately $80B in U.S. spending attributable to nonfatal older-adult falls.</a:t>
            </a:r>
          </a:p>
          <a:p>
            <a:pPr>
              <a:spcAft>
                <a:spcPts val="0"/>
              </a:spcAft>
            </a:pPr>
            <a:r>
              <a:rPr sz="1320">
                <a:solidFill>
                  <a:srgbClr val="1D2A3C"/>
                </a:solidFill>
                <a:latin typeface="Arial"/>
              </a:rPr>
              <a:t>• AARP/Stanford 2017: social isolation associated with an estimated $6.7B in additional Medicare spending annually.</a:t>
            </a:r>
          </a:p>
          <a:p>
            <a:pPr>
              <a:spcAft>
                <a:spcPts val="0"/>
              </a:spcAft>
            </a:pPr>
            <a:r>
              <a:rPr sz="1320">
                <a:solidFill>
                  <a:srgbClr val="1D2A3C"/>
                </a:solidFill>
                <a:latin typeface="Arial"/>
              </a:rPr>
              <a:t>• KFF 2025: Medicaid paid 44% of $147B institutional long-term-care spending in 2023.</a:t>
            </a:r>
          </a:p>
          <a:p>
            <a:pPr>
              <a:spcAft>
                <a:spcPts val="0"/>
              </a:spcAft>
            </a:pPr>
            <a:r>
              <a:rPr sz="1320">
                <a:solidFill>
                  <a:srgbClr val="1D2A3C"/>
                </a:solidFill>
                <a:latin typeface="Arial"/>
              </a:rPr>
              <a:t>• Northwest Village Network website / member-fees pages: NW Philadelphia aging-in-place community; dues listed at $125 individual / $175 household; discovery signal only.</a:t>
            </a:r>
          </a:p>
          <a:p>
            <a:pPr>
              <a:spcAft>
                <a:spcPts val="0"/>
              </a:spcAft>
            </a:pPr>
            <a:r>
              <a:rPr sz="1320">
                <a:solidFill>
                  <a:srgbClr val="1D2A3C"/>
                </a:solidFill>
                <a:latin typeface="Arial"/>
              </a:rPr>
              <a:t>• Robin Hood Ventures pitch deck template / RHV site: clarity, status quo competition, team commitment, and milestone-driven fundraising; stated investments generally range $250k–$1M.</a:t>
            </a:r>
          </a:p>
        </p:txBody>
      </p:sp>
      <p:sp>
        <p:nvSpPr>
          <p:cNvPr id="7" name="Text 5"/>
          <p:cNvSpPr/>
          <p:nvPr/>
        </p:nvSpPr>
        <p:spPr>
          <a:xfrm>
            <a:off x="713232" y="5305552"/>
            <a:ext cx="10561320" cy="820927"/>
          </a:xfrm>
          <a:prstGeom prst="rect">
            <a:avLst/>
          </a:prstGeom>
          <a:solidFill>
            <a:srgbClr val="FFF3D6"/>
          </a:solidFill>
          <a:ln w="12700">
            <a:solidFill>
              <a:srgbClr val="F1CC8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
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pricing, revenue streams, pilot cohort sizes, and economic value pool estimates are working hypotheses for investor feedback, not final operating commitments.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713232" y="6199632"/>
            <a:ext cx="54864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by Lauren Murphy • Procyon Touch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" y="6455664"/>
            <a:ext cx="11064240" cy="0"/>
          </a:xfrm>
          <a:prstGeom prst="line">
            <a:avLst/>
          </a:prstGeom>
          <a:noFill/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657453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B8B"/>
                </a:solidFill>
              </a:rPr>
              <a:t>Draft for investor feedback • Philadelphia • June 2026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283696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B8B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2196</Words>
  <Application>Microsoft Office PowerPoint</Application>
  <PresentationFormat>Widescreen</PresentationFormat>
  <Paragraphs>278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Procyon Touch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Procyon Touch Pitch Deck</dc:title>
  <dc:subject>Procyon Touch pitch deck</dc:subject>
  <dc:creator>Lauren Murphy / Procyon Touch</dc:creator>
  <cp:lastModifiedBy>Lauren Murphy</cp:lastModifiedBy>
  <cp:revision>1</cp:revision>
  <dcterms:created xsi:type="dcterms:W3CDTF">2026-06-25T21:29:08Z</dcterms:created>
  <dcterms:modified xsi:type="dcterms:W3CDTF">2026-07-02T19:16:25Z</dcterms:modified>
</cp:coreProperties>
</file>